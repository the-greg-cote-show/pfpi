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F2F4F8"/>
                </a:solidFill>
                <a:latin typeface="Segoe UI"/>
              </a:rPr>
              <a:t>PFPI </a:t>
            </a:r>
            <a:r>
              <a:rPr sz="2600" b="1">
                <a:solidFill>
                  <a:srgbClr val="EAB63E"/>
                </a:solidFill>
                <a:latin typeface="Segoe UI"/>
              </a:rPr>
              <a:t>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146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spc="140">
                <a:solidFill>
                  <a:srgbClr val="EAB63E"/>
                </a:solidFill>
                <a:latin typeface="Segoe UI"/>
              </a:rPr>
              <a:t>WELCOME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88036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F2F4F8"/>
                </a:solidFill>
                <a:latin typeface="Segoe UI"/>
              </a:rPr>
              <a:t>Welcome to </a:t>
            </a:r>
            <a:r>
              <a:rPr sz="3200" b="1">
                <a:solidFill>
                  <a:srgbClr val="EAB63E"/>
                </a:solidFill>
                <a:latin typeface="Segoe UI"/>
              </a:rPr>
              <a:t>PFPI</a:t>
            </a:r>
            <a:r>
              <a:rPr sz="3200" b="1">
                <a:solidFill>
                  <a:srgbClr val="F2F4F8"/>
                </a:solidFill>
                <a:latin typeface="Segoe UI"/>
              </a:rPr>
              <a:t> 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42900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F2F4F8"/>
                </a:solidFill>
                <a:latin typeface="Segoe UI"/>
              </a:rPr>
              <a:t>Pro Football Predictions, Incorporated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069080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b="0">
                <a:solidFill>
                  <a:srgbClr val="8B93A7"/>
                </a:solidFill>
                <a:latin typeface="Segoe UI"/>
              </a:rPr>
              <a:t>This is a quick walkthrough of the new site: how you'll get your weekly picks link, how to make your picks, and where to check the standings once games are final. No football or tech knowledge required — just follow along.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5120640"/>
            <a:ext cx="8686800" cy="777240"/>
          </a:xfrm>
          <a:prstGeom prst="rect">
            <a:avLst/>
          </a:prstGeom>
          <a:solidFill>
            <a:srgbClr val="131722"/>
          </a:solidFill>
          <a:ln w="9525">
            <a:solidFill>
              <a:srgbClr val="23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/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2F4F8"/>
                </a:solidFill>
                <a:latin typeface="Segoe UI"/>
              </a:rPr>
              <a:t>Takes about 5 minutes. By the end you'll know exactly what to expect each week and exactly what to click.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5120640"/>
            <a:ext cx="50800" cy="777240"/>
          </a:xfrm>
          <a:prstGeom prst="rect">
            <a:avLst/>
          </a:prstGeom>
          <a:solidFill>
            <a:srgbClr val="EAB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3A7"/>
                </a:solidFill>
                <a:latin typeface="Segoe UI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spc="140">
                <a:solidFill>
                  <a:srgbClr val="EAB63E"/>
                </a:solidFill>
                <a:latin typeface="Segoe UI"/>
              </a:rPr>
              <a:t>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F2F4F8"/>
                </a:solidFill>
                <a:latin typeface="Segoe UI"/>
              </a:rPr>
              <a:t>How you'll get your </a:t>
            </a:r>
            <a:r>
              <a:rPr sz="3200" b="1">
                <a:solidFill>
                  <a:srgbClr val="EAB63E"/>
                </a:solidFill>
                <a:latin typeface="Segoe UI"/>
              </a:rPr>
              <a:t>picks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105156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500" b="0">
                <a:solidFill>
                  <a:srgbClr val="F2F4F8"/>
                </a:solidFill>
                <a:latin typeface="Segoe UI"/>
              </a:rPr>
              <a:t>Each week, once that week's games are set, you'll get an </a:t>
            </a:r>
            <a:r>
              <a:rPr sz="1500" b="1">
                <a:solidFill>
                  <a:srgbClr val="EAB63E"/>
                </a:solidFill>
                <a:latin typeface="Segoe UI"/>
              </a:rPr>
              <a:t>email with a personal link</a:t>
            </a:r>
            <a:r>
              <a:rPr sz="1500" b="0">
                <a:solidFill>
                  <a:srgbClr val="F2F4F8"/>
                </a:solidFill>
                <a:latin typeface="Segoe UI"/>
              </a:rPr>
              <a:t> — it's tied to your team, so it's yours and yours alone.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500" b="0">
                <a:solidFill>
                  <a:srgbClr val="F2F4F8"/>
                </a:solidFill>
                <a:latin typeface="Segoe UI"/>
              </a:rPr>
              <a:t>The link is good </a:t>
            </a:r>
            <a:r>
              <a:rPr sz="1500" b="1">
                <a:solidFill>
                  <a:srgbClr val="EAB63E"/>
                </a:solidFill>
                <a:latin typeface="Segoe UI"/>
              </a:rPr>
              <a:t>all week</a:t>
            </a:r>
            <a:r>
              <a:rPr sz="1500" b="0">
                <a:solidFill>
                  <a:srgbClr val="F2F4F8"/>
                </a:solidFill>
                <a:latin typeface="Segoe UI"/>
              </a:rPr>
              <a:t>. You don't have to make every pick the moment the email arrives — open it, make a few picks, close it, come back later and finish. Your picks save automatically as you go.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500" b="0">
                <a:solidFill>
                  <a:srgbClr val="F2F4F8"/>
                </a:solidFill>
                <a:latin typeface="Segoe UI"/>
              </a:rPr>
              <a:t>The only thing that changes is that each individual game </a:t>
            </a:r>
            <a:r>
              <a:rPr sz="1500" b="1">
                <a:solidFill>
                  <a:srgbClr val="EAB63E"/>
                </a:solidFill>
                <a:latin typeface="Segoe UI"/>
              </a:rPr>
              <a:t>locks at its own deadline</a:t>
            </a:r>
            <a:r>
              <a:rPr sz="1500" b="0">
                <a:solidFill>
                  <a:srgbClr val="F2F4F8"/>
                </a:solidFill>
                <a:latin typeface="Segoe UI"/>
              </a:rPr>
              <a:t> — usually shortly before that game kicks off. Once a game locks, you can no longer change that pick, but every other still-open game on the page is unaffected.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5212080"/>
            <a:ext cx="8686800" cy="685800"/>
          </a:xfrm>
          <a:prstGeom prst="rect">
            <a:avLst/>
          </a:prstGeom>
          <a:solidFill>
            <a:srgbClr val="131722"/>
          </a:solidFill>
          <a:ln w="9525">
            <a:solidFill>
              <a:srgbClr val="23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/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2F4F8"/>
                </a:solidFill>
                <a:latin typeface="Segoe UI"/>
              </a:rPr>
              <a:t>Bookmark or save the email — that link is how you'll always get back to your picks page for the week.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212080"/>
            <a:ext cx="50800" cy="685800"/>
          </a:xfrm>
          <a:prstGeom prst="rect">
            <a:avLst/>
          </a:prstGeom>
          <a:solidFill>
            <a:srgbClr val="EAB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3A7"/>
                </a:solidFill>
                <a:latin typeface="Segoe U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spc="140">
                <a:solidFill>
                  <a:srgbClr val="EAB63E"/>
                </a:solidFill>
                <a:latin typeface="Segoe UI"/>
              </a:rPr>
              <a:t>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F2F4F8"/>
                </a:solidFill>
                <a:latin typeface="Segoe UI"/>
              </a:rPr>
              <a:t>Making your </a:t>
            </a:r>
            <a:r>
              <a:rPr sz="3200" b="1">
                <a:solidFill>
                  <a:srgbClr val="EAB63E"/>
                </a:solidFill>
                <a:latin typeface="Segoe UI"/>
              </a:rPr>
              <a:t>picks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51206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0">
                <a:solidFill>
                  <a:srgbClr val="F2F4F8"/>
                </a:solidFill>
                <a:latin typeface="Segoe UI"/>
              </a:rPr>
              <a:t>Your picks page lists the week's games </a:t>
            </a:r>
            <a:r>
              <a:rPr sz="1400" b="1">
                <a:solidFill>
                  <a:srgbClr val="EAB63E"/>
                </a:solidFill>
                <a:latin typeface="Segoe UI"/>
              </a:rPr>
              <a:t>grouped by day</a:t>
            </a:r>
            <a:r>
              <a:rPr sz="1400" b="0">
                <a:solidFill>
                  <a:srgbClr val="F2F4F8"/>
                </a:solidFill>
                <a:latin typeface="Segoe UI"/>
              </a:rPr>
              <a:t>, with that day's deadline shown right above the games.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0">
                <a:solidFill>
                  <a:srgbClr val="F2F4F8"/>
                </a:solidFill>
                <a:latin typeface="Segoe UI"/>
              </a:rPr>
              <a:t>Each game shows two buttons — one for each team. Just </a:t>
            </a:r>
            <a:r>
              <a:rPr sz="1400" b="1">
                <a:solidFill>
                  <a:srgbClr val="EAB63E"/>
                </a:solidFill>
                <a:latin typeface="Segoe UI"/>
              </a:rPr>
              <a:t>tap the team you think will win</a:t>
            </a:r>
            <a:r>
              <a:rPr sz="1400" b="0">
                <a:solidFill>
                  <a:srgbClr val="F2F4F8"/>
                </a:solidFill>
                <a:latin typeface="Segoe UI"/>
              </a:rPr>
              <a:t>. That's the whole action.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0">
                <a:solidFill>
                  <a:srgbClr val="F2F4F8"/>
                </a:solidFill>
                <a:latin typeface="Segoe UI"/>
              </a:rPr>
              <a:t>A game marked </a:t>
            </a:r>
            <a:r>
              <a:rPr sz="1400" b="1">
                <a:solidFill>
                  <a:srgbClr val="EAB63E"/>
                </a:solidFill>
                <a:latin typeface="Segoe UI"/>
              </a:rPr>
              <a:t>LOCKED</a:t>
            </a:r>
            <a:r>
              <a:rPr sz="1400" b="0">
                <a:solidFill>
                  <a:srgbClr val="F2F4F8"/>
                </a:solidFill>
                <a:latin typeface="Segoe UI"/>
              </a:rPr>
              <a:t> has already passed its deadline and can no longer be changed — that's expected for older games, not an error.</a:t>
            </a:r>
          </a:p>
        </p:txBody>
      </p:sp>
      <p:pic>
        <p:nvPicPr>
          <p:cNvPr id="6" name="Picture 5" descr="picks-page-t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91640"/>
            <a:ext cx="5394960" cy="2559853"/>
          </a:xfrm>
          <a:prstGeom prst="rect">
            <a:avLst/>
          </a:prstGeom>
          <a:ln w="9525">
            <a:solidFill>
              <a:srgbClr val="23283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126480" y="4324645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8B93A7"/>
                </a:solidFill>
                <a:latin typeface="Segoe UI"/>
              </a:rPr>
              <a:t>The actual picks page — games grouped by date, deadline shown per 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3A7"/>
                </a:solidFill>
                <a:latin typeface="Segoe U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spc="140">
                <a:solidFill>
                  <a:srgbClr val="EAB63E"/>
                </a:solidFill>
                <a:latin typeface="Segoe UI"/>
              </a:rPr>
              <a:t>STEP 3 — DON'T SKIP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F2F4F8"/>
                </a:solidFill>
                <a:latin typeface="Segoe UI"/>
              </a:rPr>
              <a:t>Submitting your </a:t>
            </a:r>
            <a:r>
              <a:rPr sz="3200" b="1">
                <a:solidFill>
                  <a:srgbClr val="EAB63E"/>
                </a:solidFill>
                <a:latin typeface="Segoe UI"/>
              </a:rPr>
              <a:t>picks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500" b="1">
                <a:solidFill>
                  <a:srgbClr val="EAB63E"/>
                </a:solidFill>
                <a:latin typeface="Segoe UI"/>
              </a:rPr>
              <a:t>Tapping a team button by itself does not finalize anything.</a:t>
            </a:r>
            <a:r>
              <a:rPr sz="1500" b="0">
                <a:solidFill>
                  <a:srgbClr val="F2F4F8"/>
                </a:solidFill>
                <a:latin typeface="Segoe UI"/>
              </a:rPr>
              <a:t> It just saves that one pick. To actually send your picks in for the week, you need to press the </a:t>
            </a:r>
            <a:r>
              <a:rPr sz="1500" b="1">
                <a:solidFill>
                  <a:srgbClr val="EAB63E"/>
                </a:solidFill>
                <a:latin typeface="Segoe UI"/>
              </a:rPr>
              <a:t>Submit picks</a:t>
            </a:r>
            <a:r>
              <a:rPr sz="1500" b="0">
                <a:solidFill>
                  <a:srgbClr val="F2F4F8"/>
                </a:solidFill>
                <a:latin typeface="Segoe UI"/>
              </a:rPr>
              <a:t> button at the bottom of the page.</a:t>
            </a:r>
          </a:p>
        </p:txBody>
      </p:sp>
      <p:pic>
        <p:nvPicPr>
          <p:cNvPr id="6" name="Picture 5" descr="submit-button-contex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880360"/>
            <a:ext cx="5120640" cy="2429691"/>
          </a:xfrm>
          <a:prstGeom prst="rect">
            <a:avLst/>
          </a:prstGeom>
          <a:ln w="9525">
            <a:solidFill>
              <a:srgbClr val="23283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85800" y="5383203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8B93A7"/>
                </a:solidFill>
                <a:latin typeface="Segoe UI"/>
              </a:rPr>
              <a:t>The Submit picks button, at the bottom of the page</a:t>
            </a:r>
          </a:p>
        </p:txBody>
      </p:sp>
      <p:pic>
        <p:nvPicPr>
          <p:cNvPr id="8" name="Picture 7" descr="submit-button-z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3738589"/>
            <a:ext cx="5120640" cy="315772"/>
          </a:xfrm>
          <a:prstGeom prst="rect">
            <a:avLst/>
          </a:prstGeom>
          <a:ln w="9525">
            <a:solidFill>
              <a:srgbClr val="232838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309360" y="4127513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8B93A7"/>
                </a:solidFill>
                <a:latin typeface="Segoe UI"/>
              </a:rPr>
              <a:t>Close-up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5989320"/>
            <a:ext cx="10515600" cy="594360"/>
          </a:xfrm>
          <a:prstGeom prst="rect">
            <a:avLst/>
          </a:prstGeom>
          <a:solidFill>
            <a:srgbClr val="131722"/>
          </a:solidFill>
          <a:ln w="9525">
            <a:solidFill>
              <a:srgbClr val="23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/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F2F4F8"/>
                </a:solidFill>
                <a:latin typeface="Segoe UI"/>
              </a:rPr>
              <a:t>Come back and press Submit again any time you change a pick — you can resubmit as many times as you like before each game locks.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5989320"/>
            <a:ext cx="50800" cy="594360"/>
          </a:xfrm>
          <a:prstGeom prst="rect">
            <a:avLst/>
          </a:prstGeom>
          <a:solidFill>
            <a:srgbClr val="EAB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3A7"/>
                </a:solidFill>
                <a:latin typeface="Segoe U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spc="140">
                <a:solidFill>
                  <a:srgbClr val="EAB63E"/>
                </a:solidFill>
                <a:latin typeface="Segoe UI"/>
              </a:rPr>
              <a:t>THE PUBLIC 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F2F4F8"/>
                </a:solidFill>
                <a:latin typeface="Segoe UI"/>
              </a:rPr>
              <a:t>The </a:t>
            </a:r>
            <a:r>
              <a:rPr sz="3200" b="1">
                <a:solidFill>
                  <a:srgbClr val="EAB63E"/>
                </a:solidFill>
                <a:latin typeface="Segoe UI"/>
              </a:rPr>
              <a:t>Games</a:t>
            </a:r>
            <a:r>
              <a:rPr sz="3200" b="1">
                <a:solidFill>
                  <a:srgbClr val="F2F4F8"/>
                </a:solidFill>
                <a:latin typeface="Segoe UI"/>
              </a:rPr>
              <a:t> tab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51206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0">
                <a:solidFill>
                  <a:srgbClr val="F2F4F8"/>
                </a:solidFill>
                <a:latin typeface="Segoe UI"/>
              </a:rPr>
              <a:t>Anyone can visit the public PFPI site — no link or login needed. The </a:t>
            </a:r>
            <a:r>
              <a:rPr sz="1400" b="1">
                <a:solidFill>
                  <a:srgbClr val="EAB63E"/>
                </a:solidFill>
                <a:latin typeface="Segoe UI"/>
              </a:rPr>
              <a:t>Games</a:t>
            </a:r>
            <a:r>
              <a:rPr sz="1400" b="0">
                <a:solidFill>
                  <a:srgbClr val="F2F4F8"/>
                </a:solidFill>
                <a:latin typeface="Segoe UI"/>
              </a:rPr>
              <a:t> tab shows that week's full schedule.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0">
                <a:solidFill>
                  <a:srgbClr val="F2F4F8"/>
                </a:solidFill>
                <a:latin typeface="Segoe UI"/>
              </a:rPr>
              <a:t>As games are played, scores fill in automatically. Once a game is </a:t>
            </a:r>
            <a:r>
              <a:rPr sz="1400" b="1">
                <a:solidFill>
                  <a:srgbClr val="EAB63E"/>
                </a:solidFill>
                <a:latin typeface="Segoe UI"/>
              </a:rPr>
              <a:t>FINAL</a:t>
            </a:r>
            <a:r>
              <a:rPr sz="1400" b="0">
                <a:solidFill>
                  <a:srgbClr val="F2F4F8"/>
                </a:solidFill>
                <a:latin typeface="Segoe UI"/>
              </a:rPr>
              <a:t>, tapping it reveals what everyone in the family picked for that game.</a:t>
            </a:r>
          </a:p>
        </p:txBody>
      </p:sp>
      <p:pic>
        <p:nvPicPr>
          <p:cNvPr id="6" name="Picture 5" descr="games-tab-preseason-wk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91640"/>
            <a:ext cx="5394960" cy="2559853"/>
          </a:xfrm>
          <a:prstGeom prst="rect">
            <a:avLst/>
          </a:prstGeom>
          <a:ln w="9525">
            <a:solidFill>
              <a:srgbClr val="23283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126480" y="4324645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8B93A7"/>
                </a:solidFill>
                <a:latin typeface="Segoe UI"/>
              </a:rPr>
              <a:t>The Games tab — schedule and scores for the week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3A7"/>
                </a:solidFill>
                <a:latin typeface="Segoe U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spc="140">
                <a:solidFill>
                  <a:srgbClr val="EAB63E"/>
                </a:solidFill>
                <a:latin typeface="Segoe UI"/>
              </a:rPr>
              <a:t>THE PUBLIC 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F2F4F8"/>
                </a:solidFill>
                <a:latin typeface="Segoe UI"/>
              </a:rPr>
              <a:t>Standings &amp; </a:t>
            </a:r>
            <a:r>
              <a:rPr sz="3200" b="1">
                <a:solidFill>
                  <a:srgbClr val="EAB63E"/>
                </a:solidFill>
                <a:latin typeface="Segoe UI"/>
              </a:rPr>
              <a:t>categories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51206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0">
                <a:solidFill>
                  <a:srgbClr val="F2F4F8"/>
                </a:solidFill>
                <a:latin typeface="Segoe UI"/>
              </a:rPr>
              <a:t>The </a:t>
            </a:r>
            <a:r>
              <a:rPr sz="1400" b="1">
                <a:solidFill>
                  <a:srgbClr val="EAB63E"/>
                </a:solidFill>
                <a:latin typeface="Segoe UI"/>
              </a:rPr>
              <a:t>Standings</a:t>
            </a:r>
            <a:r>
              <a:rPr sz="1400" b="0">
                <a:solidFill>
                  <a:srgbClr val="F2F4F8"/>
                </a:solidFill>
                <a:latin typeface="Segoe UI"/>
              </a:rPr>
              <a:t> tab shows a simple bar chart — one bar per team, tallest is in the lead. It's the fastest way to see where everyone stands.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0">
                <a:solidFill>
                  <a:srgbClr val="F2F4F8"/>
                </a:solidFill>
                <a:latin typeface="Segoe UI"/>
              </a:rPr>
              <a:t>There are a few other categories along the top too, in plain English:</a:t>
            </a:r>
          </a:p>
        </p:txBody>
      </p:sp>
      <p:pic>
        <p:nvPicPr>
          <p:cNvPr id="6" name="Picture 5" descr="standings-tab-preseason-wk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00200"/>
            <a:ext cx="5394960" cy="1978381"/>
          </a:xfrm>
          <a:prstGeom prst="rect">
            <a:avLst/>
          </a:prstGeom>
          <a:ln w="9525">
            <a:solidFill>
              <a:srgbClr val="23283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126480" y="3651733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8B93A7"/>
                </a:solidFill>
                <a:latin typeface="Segoe UI"/>
              </a:rPr>
              <a:t>The Standings tab — cumulative correct picks by team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526280"/>
            <a:ext cx="3429000" cy="777240"/>
          </a:xfrm>
          <a:prstGeom prst="roundRect">
            <a:avLst>
              <a:gd name="adj" fmla="val 6000"/>
            </a:avLst>
          </a:prstGeom>
          <a:solidFill>
            <a:srgbClr val="131722"/>
          </a:solidFill>
          <a:ln w="9525">
            <a:solidFill>
              <a:srgbClr val="23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EAB63E"/>
                </a:solidFill>
                <a:latin typeface="Segoe UI"/>
              </a:rPr>
              <a:t>Weeks Leading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F2F4F8"/>
                </a:solidFill>
                <a:latin typeface="Segoe UI"/>
              </a:rPr>
              <a:t>How many weeks that team has been in first place.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4526280"/>
            <a:ext cx="3429000" cy="777240"/>
          </a:xfrm>
          <a:prstGeom prst="roundRect">
            <a:avLst>
              <a:gd name="adj" fmla="val 6000"/>
            </a:avLst>
          </a:prstGeom>
          <a:solidFill>
            <a:srgbClr val="131722"/>
          </a:solidFill>
          <a:ln w="9525">
            <a:solidFill>
              <a:srgbClr val="23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EAB63E"/>
                </a:solidFill>
                <a:latin typeface="Segoe UI"/>
              </a:rPr>
              <a:t>Weekly Titles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F2F4F8"/>
                </a:solidFill>
                <a:latin typeface="Segoe UI"/>
              </a:rPr>
              <a:t>How many individual weeks that team has actually won outright.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4526280"/>
            <a:ext cx="3429000" cy="777240"/>
          </a:xfrm>
          <a:prstGeom prst="roundRect">
            <a:avLst>
              <a:gd name="adj" fmla="val 6000"/>
            </a:avLst>
          </a:prstGeom>
          <a:solidFill>
            <a:srgbClr val="131722"/>
          </a:solidFill>
          <a:ln w="9525">
            <a:solidFill>
              <a:srgbClr val="23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EAB63E"/>
                </a:solidFill>
                <a:latin typeface="Segoe UI"/>
              </a:rPr>
              <a:t>10-Win Weeks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F2F4F8"/>
                </a:solidFill>
                <a:latin typeface="Segoe UI"/>
              </a:rPr>
              <a:t>How many weeks that team picked 10 or more games correctly.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5440680"/>
            <a:ext cx="3429000" cy="777240"/>
          </a:xfrm>
          <a:prstGeom prst="roundRect">
            <a:avLst>
              <a:gd name="adj" fmla="val 6000"/>
            </a:avLst>
          </a:prstGeom>
          <a:solidFill>
            <a:srgbClr val="131722"/>
          </a:solidFill>
          <a:ln w="9525">
            <a:solidFill>
              <a:srgbClr val="23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EAB63E"/>
                </a:solidFill>
                <a:latin typeface="Segoe UI"/>
              </a:rPr>
              <a:t>Unique Hits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F2F4F8"/>
                </a:solidFill>
                <a:latin typeface="Segoe UI"/>
              </a:rPr>
              <a:t>Correct picks nobody else in the family also got right.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5440680"/>
            <a:ext cx="3429000" cy="777240"/>
          </a:xfrm>
          <a:prstGeom prst="roundRect">
            <a:avLst>
              <a:gd name="adj" fmla="val 6000"/>
            </a:avLst>
          </a:prstGeom>
          <a:solidFill>
            <a:srgbClr val="131722"/>
          </a:solidFill>
          <a:ln w="9525">
            <a:solidFill>
              <a:srgbClr val="23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EAB63E"/>
                </a:solidFill>
                <a:latin typeface="Segoe UI"/>
              </a:rPr>
              <a:t>Best Week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F2F4F8"/>
                </a:solidFill>
                <a:latin typeface="Segoe UI"/>
              </a:rPr>
              <a:t>That team's single best-ever week, for bragging rights.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3A7"/>
                </a:solidFill>
                <a:latin typeface="Segoe U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spc="140">
                <a:solidFill>
                  <a:srgbClr val="EAB63E"/>
                </a:solidFill>
                <a:latin typeface="Segoe UI"/>
              </a:rPr>
              <a:t>THE PUBLIC 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F2F4F8"/>
                </a:solidFill>
                <a:latin typeface="Segoe UI"/>
              </a:rPr>
              <a:t>The </a:t>
            </a:r>
            <a:r>
              <a:rPr sz="3200" b="1">
                <a:solidFill>
                  <a:srgbClr val="EAB63E"/>
                </a:solidFill>
                <a:latin typeface="Segoe UI"/>
              </a:rPr>
              <a:t>Commissioner's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96012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500" b="0">
                <a:solidFill>
                  <a:srgbClr val="F2F4F8"/>
                </a:solidFill>
                <a:latin typeface="Segoe UI"/>
              </a:rPr>
              <a:t>Each week, Greg writes up a short recap — his take on how the week went, who's rising, who's falling, and anything worth calling out.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500" b="0">
                <a:solidFill>
                  <a:srgbClr val="F2F4F8"/>
                </a:solidFill>
                <a:latin typeface="Segoe UI"/>
              </a:rPr>
              <a:t>You'll find it right on the main site, underneath the standings for that week. No separate link needed — it's just part of the page.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3794760"/>
            <a:ext cx="8686800" cy="777240"/>
          </a:xfrm>
          <a:prstGeom prst="rect">
            <a:avLst/>
          </a:prstGeom>
          <a:solidFill>
            <a:srgbClr val="131722"/>
          </a:solidFill>
          <a:ln w="9525">
            <a:solidFill>
              <a:srgbClr val="23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/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2F4F8"/>
                </a:solidFill>
                <a:latin typeface="Segoe UI"/>
              </a:rPr>
              <a:t>New report goes up most weeks once that week's games are final — check back after Sunday/Monday night football wraps up.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3794760"/>
            <a:ext cx="50800" cy="777240"/>
          </a:xfrm>
          <a:prstGeom prst="rect">
            <a:avLst/>
          </a:prstGeom>
          <a:solidFill>
            <a:srgbClr val="EAB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3A7"/>
                </a:solidFill>
                <a:latin typeface="Segoe U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spc="140">
                <a:solidFill>
                  <a:srgbClr val="EAB63E"/>
                </a:solidFill>
                <a:latin typeface="Segoe UI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F2F4F8"/>
                </a:solidFill>
                <a:latin typeface="Segoe UI"/>
              </a:rPr>
              <a:t>Who to </a:t>
            </a:r>
            <a:r>
              <a:rPr sz="3200" b="1">
                <a:solidFill>
                  <a:srgbClr val="EAB63E"/>
                </a:solidFill>
                <a:latin typeface="Segoe UI"/>
              </a:rPr>
              <a:t>ask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4206240" cy="1463040"/>
          </a:xfrm>
          <a:prstGeom prst="roundRect">
            <a:avLst>
              <a:gd name="adj" fmla="val 6000"/>
            </a:avLst>
          </a:prstGeom>
          <a:solidFill>
            <a:srgbClr val="131722"/>
          </a:solidFill>
          <a:ln w="9525">
            <a:solidFill>
              <a:srgbClr val="23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600"/>
              </a:spcAft>
            </a:pPr>
            <a:r>
              <a:rPr sz="1050" b="1" spc="100">
                <a:solidFill>
                  <a:srgbClr val="8B93A7"/>
                </a:solidFill>
                <a:latin typeface="Segoe UI"/>
              </a:rPr>
              <a:t>TECHNICAL / SITE PROBLEMS</a:t>
            </a:r>
          </a:p>
          <a:p>
            <a:pPr>
              <a:spcAft>
                <a:spcPts val="400"/>
              </a:spcAft>
            </a:pPr>
            <a:r>
              <a:rPr sz="2000" b="1">
                <a:solidFill>
                  <a:srgbClr val="F2F4F8"/>
                </a:solidFill>
                <a:latin typeface="Segoe UI"/>
              </a:rPr>
              <a:t>Yeti</a:t>
            </a:r>
          </a:p>
          <a:p>
            <a:r>
              <a:rPr sz="1400" b="0">
                <a:solidFill>
                  <a:srgbClr val="EAB63E"/>
                </a:solidFill>
                <a:latin typeface="Segoe UI"/>
              </a:rPr>
              <a:t>yeti@yetiblanc.com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66360" y="1920240"/>
            <a:ext cx="4206240" cy="1463040"/>
          </a:xfrm>
          <a:prstGeom prst="roundRect">
            <a:avLst>
              <a:gd name="adj" fmla="val 6000"/>
            </a:avLst>
          </a:prstGeom>
          <a:solidFill>
            <a:srgbClr val="131722"/>
          </a:solidFill>
          <a:ln w="9525">
            <a:solidFill>
              <a:srgbClr val="23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600"/>
              </a:spcAft>
            </a:pPr>
            <a:r>
              <a:rPr sz="1050" b="1" spc="100">
                <a:solidFill>
                  <a:srgbClr val="8B93A7"/>
                </a:solidFill>
                <a:latin typeface="Segoe UI"/>
              </a:rPr>
              <a:t>LEAGUE RULES / QUESTIONS</a:t>
            </a:r>
          </a:p>
          <a:p>
            <a:pPr>
              <a:spcAft>
                <a:spcPts val="400"/>
              </a:spcAft>
            </a:pPr>
            <a:r>
              <a:rPr sz="2000" b="1">
                <a:solidFill>
                  <a:srgbClr val="F2F4F8"/>
                </a:solidFill>
                <a:latin typeface="Segoe UI"/>
              </a:rPr>
              <a:t>Greg</a:t>
            </a:r>
          </a:p>
          <a:p>
            <a:r>
              <a:rPr sz="1400" b="0">
                <a:solidFill>
                  <a:srgbClr val="EAB63E"/>
                </a:solidFill>
                <a:latin typeface="Segoe UI"/>
              </a:rPr>
              <a:t>You've already got his contact info.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3A7"/>
                </a:solidFill>
                <a:latin typeface="Segoe U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